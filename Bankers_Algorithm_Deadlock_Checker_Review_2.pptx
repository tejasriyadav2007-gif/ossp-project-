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4CDE6"/>
                </a:solidFill>
              </a:defRPr>
            </a:pPr>
            <a:r>
              <a:t>OPERATING SYSTEMS &amp; SYSTEM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Banker's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2BEEB"/>
                </a:solidFill>
              </a:defRPr>
            </a:pPr>
            <a:r>
              <a:t>Deadlock 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PBL 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57200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0"/>
                </a:solidFill>
              </a:defRPr>
            </a:pPr>
            <a:r>
              <a:t>Team Members  •  Roll Numbers  •  Section  •  Faculty/Guide</a:t>
            </a:r>
            <a:br/>
            <a:r>
              <a:t>Academic Year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</a:defRPr>
            </a:pPr>
            <a:r>
              <a:t>Project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6973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568C"/>
                </a:solidFill>
              </a:defRPr>
            </a:pPr>
            <a:r>
              <a:t>IMPLEMENT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Implement Banker’s Algorithm using 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EBF2F9"/>
          </a:solidFill>
          <a:ln>
            <a:solidFill>
              <a:srgbClr val="2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4B"/>
                </a:solidFill>
              </a:defRPr>
            </a:pPr>
            <a: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Determine whether the system is SAFE or UNSAFE.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568C"/>
                </a:solidFill>
              </a:defRPr>
            </a:pPr>
            <a:r>
              <a:t>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Generate a Safe Sequence when possible.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037"/>
                </a:solidFill>
              </a:defRPr>
            </a:pPr>
            <a:r>
              <a:t>Core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703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3568C"/>
                </a:solidFill>
              </a:defRPr>
            </a:pPr>
            <a:r>
              <a:t>Need = Max − Allocation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006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832"/>
                </a:solidFill>
              </a:defRPr>
            </a:pPr>
            <a:r>
              <a:t>Goal: prevent resource allocation from entering an unsafe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</a:defRPr>
            </a:pPr>
            <a:r>
              <a:t>Banker's Algorithm • OSSP PBL Review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</a:defRPr>
            </a:pPr>
            <a:r>
              <a:t>Implementation &amp; System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6973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514600" cy="141732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568C"/>
                </a:solidFill>
              </a:defRPr>
            </a:pPr>
            <a:r>
              <a:t>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Resources currently held by each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25880"/>
            <a:ext cx="2514600" cy="141732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904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568C"/>
                </a:solidFill>
              </a:defRPr>
            </a:pPr>
            <a:r>
              <a:t>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202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Maximum resources required by each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25880"/>
            <a:ext cx="2514600" cy="141732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904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568C"/>
                </a:solidFill>
              </a:defRPr>
            </a:pPr>
            <a:r>
              <a:t>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Resources currently free.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325880"/>
            <a:ext cx="2514600" cy="1417320"/>
          </a:xfrm>
          <a:prstGeom prst="roundRect">
            <a:avLst/>
          </a:prstGeom>
          <a:solidFill>
            <a:srgbClr val="EBF2F9"/>
          </a:solidFill>
          <a:ln>
            <a:solidFill>
              <a:srgbClr val="2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4904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4B"/>
                </a:solidFill>
              </a:defRPr>
            </a:pPr>
            <a:r>
              <a:t>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92024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Remaining resources required.</a:t>
            </a:r>
            <a:br/>
            <a:r>
              <a:t>Max −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37"/>
                </a:solidFill>
              </a:defRPr>
            </a:pPr>
            <a:r>
              <a:t>Input Matrices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880360" y="3794760"/>
            <a:ext cx="640080" cy="411480"/>
          </a:xfrm>
          <a:prstGeom prst="rightArrow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794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37"/>
                </a:solidFill>
              </a:defRPr>
            </a:pPr>
            <a:r>
              <a:t>Need Calculation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623560" y="3794760"/>
            <a:ext cx="640080" cy="411480"/>
          </a:xfrm>
          <a:prstGeom prst="rightArrow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94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37"/>
                </a:solidFill>
              </a:defRPr>
            </a:pPr>
            <a:r>
              <a:t>Safety Check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366760" y="3794760"/>
            <a:ext cx="640080" cy="411480"/>
          </a:xfrm>
          <a:prstGeom prst="rightArrow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794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37"/>
                </a:solidFill>
              </a:defRPr>
            </a:pPr>
            <a:r>
              <a:t>SAFE / UNSAFE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832"/>
                </a:solidFill>
              </a:defRPr>
            </a:pPr>
            <a:r>
              <a:t>Language: C     Compiler: GCC     Platform: Linux / Ubuntu / WSL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973"/>
                </a:solidFill>
              </a:defRPr>
            </a:pPr>
            <a:r>
              <a:t>Libraries: &lt;stdio.h&gt;   •   &lt;stdbool.h&gt;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</a:defRPr>
            </a:pPr>
            <a:r>
              <a:t>Banker's Algorithm • OSSP PBL Review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</a:defRPr>
            </a:pPr>
            <a:r>
              <a:t>Banker's Algorithm – Implementation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6973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234440"/>
            <a:ext cx="475488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130759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37"/>
                </a:solidFill>
              </a:defRPr>
            </a:pPr>
            <a:r>
              <a:t>Start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06440" y="1737360"/>
            <a:ext cx="457200" cy="320040"/>
          </a:xfrm>
          <a:prstGeom prst="downArrow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874519"/>
            <a:ext cx="475488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94767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37"/>
                </a:solidFill>
              </a:defRPr>
            </a:pPr>
            <a:r>
              <a:t>Read Allocation,</a:t>
            </a:r>
            <a:br/>
            <a:r>
              <a:t>Max &amp; Available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06440" y="2377439"/>
            <a:ext cx="457200" cy="320040"/>
          </a:xfrm>
          <a:prstGeom prst="downArrow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2514600"/>
            <a:ext cx="4754880" cy="502920"/>
          </a:xfrm>
          <a:prstGeom prst="roundRect">
            <a:avLst/>
          </a:prstGeom>
          <a:solidFill>
            <a:srgbClr val="DEEEFA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58775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37"/>
                </a:solidFill>
              </a:defRPr>
            </a:pPr>
            <a:r>
              <a:t>Need = Max − Allocation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06440" y="3017520"/>
            <a:ext cx="457200" cy="320040"/>
          </a:xfrm>
          <a:prstGeom prst="downArrow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3154680"/>
            <a:ext cx="475488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22783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37"/>
                </a:solidFill>
              </a:defRPr>
            </a:pPr>
            <a:r>
              <a:t>Work = Available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06440" y="3657600"/>
            <a:ext cx="457200" cy="320040"/>
          </a:xfrm>
          <a:prstGeom prst="downArrow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0" y="3794760"/>
            <a:ext cx="4754880" cy="502920"/>
          </a:xfrm>
          <a:prstGeom prst="roundRect">
            <a:avLst/>
          </a:prstGeom>
          <a:solidFill>
            <a:srgbClr val="DEEEFA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386791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37"/>
                </a:solidFill>
              </a:defRPr>
            </a:pPr>
            <a:r>
              <a:t>Find unfinished process</a:t>
            </a:r>
            <a:br/>
            <a:r>
              <a:t>with Need ≤ Work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806440" y="4297680"/>
            <a:ext cx="457200" cy="320040"/>
          </a:xfrm>
          <a:prstGeom prst="downArrow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0" y="4434840"/>
            <a:ext cx="475488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450799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37"/>
                </a:solidFill>
              </a:defRPr>
            </a:pPr>
            <a:r>
              <a:t>Work += Allocation</a:t>
            </a:r>
            <a:br/>
            <a:r>
              <a:t>Mark Finish = true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806440" y="4937759"/>
            <a:ext cx="457200" cy="320040"/>
          </a:xfrm>
          <a:prstGeom prst="downArrow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0" y="5074920"/>
            <a:ext cx="4754880" cy="50292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514807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37"/>
                </a:solidFill>
              </a:defRPr>
            </a:pPr>
            <a:r>
              <a:t>All processes finished?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7D4B"/>
                </a:solidFill>
              </a:defRPr>
            </a:pPr>
            <a:r>
              <a:t>YES → SAFE + Safe Sequence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897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A3737"/>
                </a:solidFill>
              </a:defRPr>
            </a:pPr>
            <a:r>
              <a:t>NO candidate → UNSAFE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</a:defRPr>
            </a:pPr>
            <a:r>
              <a:t>Banker's Algorithm • OSSP PBL Review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</a:defRPr>
            </a:pPr>
            <a:r>
              <a:t>Program Execution –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6973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34440"/>
            <a:ext cx="10332720" cy="4892040"/>
          </a:xfrm>
          <a:prstGeom prst="roundRect">
            <a:avLst/>
          </a:prstGeom>
          <a:solidFill>
            <a:srgbClr val="181B1F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50876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CEBDC"/>
                </a:solidFill>
                <a:latin typeface="Consolas"/>
              </a:defRPr>
            </a:pPr>
            <a:r>
              <a:t>Banker's Algorithm - Deadlock Checker</a:t>
            </a:r>
            <a:br/>
            <a:br/>
            <a:r>
              <a:t>Number of Processes: 3</a:t>
            </a:r>
            <a:br/>
            <a:r>
              <a:t>Number of Resources: 3</a:t>
            </a:r>
            <a:br/>
            <a:br/>
            <a:r>
              <a:t>Available Resources:</a:t>
            </a:r>
            <a:br/>
            <a:r>
              <a:t>3 3 2</a:t>
            </a:r>
            <a:br/>
            <a:br/>
            <a:r>
              <a:t>Need Matrix:</a:t>
            </a:r>
            <a:br/>
            <a:r>
              <a:t>P1: 2 2 2</a:t>
            </a:r>
            <a:br/>
            <a:r>
              <a:t>P2: 5 3 3</a:t>
            </a:r>
            <a:br/>
            <a:r>
              <a:t>P3: 1 0 0</a:t>
            </a:r>
            <a:br/>
            <a:br/>
            <a:r>
              <a:t>Checking Safe State...</a:t>
            </a:r>
            <a:br/>
            <a:br/>
            <a:r>
              <a:t>P1 can execute</a:t>
            </a:r>
            <a:br/>
            <a:r>
              <a:t>Work updated: 4 3 2</a:t>
            </a:r>
            <a:br/>
            <a:br/>
            <a:r>
              <a:t>P3 can execute</a:t>
            </a:r>
            <a:br/>
            <a:r>
              <a:t>Work updated: 6 4 3</a:t>
            </a:r>
            <a:br/>
            <a:br/>
            <a:r>
              <a:t>P2 can execute</a:t>
            </a:r>
            <a:br/>
            <a:r>
              <a:t>Work updated: 8 5 4</a:t>
            </a:r>
            <a:br/>
            <a:br/>
            <a:r>
              <a:t>System is in a SAFE State</a:t>
            </a:r>
            <a:br/>
            <a:br/>
            <a:r>
              <a:t>Safe Sequence:</a:t>
            </a:r>
            <a:br/>
            <a:r>
              <a:t>P1 -&gt; P3 -&gt; 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</a:defRPr>
            </a:pPr>
            <a:r>
              <a:t>Banker's Algorithm • OSSP PBL Review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</a:defRPr>
            </a:pPr>
            <a:r>
              <a:t>Test Case 1 – Safe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6973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3568C"/>
                </a:solidFill>
              </a:defRPr>
            </a:pPr>
            <a:r>
              <a:t>Available = [3, 3, 2]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37360"/>
                <a:gridCol w="164592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Process</a:t>
                      </a:r>
                    </a:p>
                  </a:txBody>
                  <a:tcPr>
                    <a:solidFill>
                      <a:srgbClr val="0F20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Allocation</a:t>
                      </a:r>
                    </a:p>
                  </a:txBody>
                  <a:tcPr>
                    <a:solidFill>
                      <a:srgbClr val="0F20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F20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Need</a:t>
                      </a:r>
                    </a:p>
                  </a:txBody>
                  <a:tcPr>
                    <a:solidFill>
                      <a:srgbClr val="0F20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1 0 0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3 2 2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2 2 2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2 1 1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7 4 4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5 3 3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2 1 1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3 1 1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1 0 0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438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2037"/>
                </a:solidFill>
              </a:defRPr>
            </a:pPr>
            <a:r>
              <a:t>Execution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2402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832"/>
                </a:solidFill>
              </a:defRPr>
            </a:pPr>
            <a:r>
              <a:t>• Work = [3,3,2]</a:t>
            </a:r>
          </a:p>
          <a:p>
            <a:pPr>
              <a:spcAft>
                <a:spcPts val="1000"/>
              </a:spcAft>
              <a:defRPr sz="1500">
                <a:solidFill>
                  <a:srgbClr val="1E2832"/>
                </a:solidFill>
              </a:defRPr>
            </a:pPr>
            <a:r>
              <a:t>• P1 finishes → Work = [4,3,2]</a:t>
            </a:r>
          </a:p>
          <a:p>
            <a:pPr>
              <a:spcAft>
                <a:spcPts val="1000"/>
              </a:spcAft>
              <a:defRPr sz="1500">
                <a:solidFill>
                  <a:srgbClr val="1E2832"/>
                </a:solidFill>
              </a:defRPr>
            </a:pPr>
            <a:r>
              <a:t>• P3 finishes → Work = [6,4,3]</a:t>
            </a:r>
          </a:p>
          <a:p>
            <a:pPr>
              <a:spcAft>
                <a:spcPts val="1000"/>
              </a:spcAft>
              <a:defRPr sz="1500">
                <a:solidFill>
                  <a:srgbClr val="1E2832"/>
                </a:solidFill>
              </a:defRPr>
            </a:pPr>
            <a:r>
              <a:t>• P2 finishes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7D4B"/>
                </a:solidFill>
              </a:defRPr>
            </a:pPr>
            <a:r>
              <a:t>SAFE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166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7D4B"/>
                </a:solidFill>
              </a:defRPr>
            </a:pPr>
            <a:r>
              <a:t>P1  →  P3  →  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983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832"/>
                </a:solidFill>
              </a:defRPr>
            </a:pPr>
            <a:r>
              <a:t>All processes can complete successfully.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</a:defRPr>
            </a:pPr>
            <a:r>
              <a:t>Banker's Algorithm • OSSP PBL Review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</a:defRPr>
            </a:pPr>
            <a:r>
              <a:t>Test Case 2 – Unsafe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6973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325880"/>
            <a:ext cx="8138160" cy="621792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1453895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832"/>
                </a:solidFill>
              </a:defRPr>
            </a:pPr>
            <a:r>
              <a:t>Resource Request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15000" y="1947672"/>
            <a:ext cx="457200" cy="274320"/>
          </a:xfrm>
          <a:prstGeom prst="downArrow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2286000"/>
            <a:ext cx="8138160" cy="621792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414016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832"/>
                </a:solidFill>
              </a:defRPr>
            </a:pPr>
            <a:r>
              <a:t>Request exceeds available limits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15000" y="2907792"/>
            <a:ext cx="457200" cy="274320"/>
          </a:xfrm>
          <a:prstGeom prst="downArrow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20240" y="3246120"/>
            <a:ext cx="8138160" cy="621792"/>
          </a:xfrm>
          <a:prstGeom prst="roundRect">
            <a:avLst/>
          </a:prstGeom>
          <a:solidFill>
            <a:srgbClr val="EBF2F9"/>
          </a:solidFill>
          <a:ln>
            <a:solidFill>
              <a:srgbClr val="AA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3374136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832"/>
                </a:solidFill>
              </a:defRPr>
            </a:pPr>
            <a:r>
              <a:t>No remaining process satisfies Need ≤ Work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715000" y="3867911"/>
            <a:ext cx="457200" cy="274320"/>
          </a:xfrm>
          <a:prstGeom prst="downArrow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20240" y="4206240"/>
            <a:ext cx="8138160" cy="621792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4334256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832"/>
                </a:solidFill>
              </a:defRPr>
            </a:pPr>
            <a:r>
              <a:t>Safe Sequence cannot be 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44068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AA3737"/>
                </a:solidFill>
              </a:defRPr>
            </a:pPr>
            <a:r>
              <a:t>System is in an UNSAFE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</a:defRPr>
            </a:pPr>
            <a:r>
              <a:t>Banker's Algorithm • OSSP PBL Review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</a:defRPr>
            </a:pPr>
            <a:r>
              <a:t>Test Case 3 – Exact Fit Condition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6973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2037"/>
                </a:solidFill>
              </a:defRPr>
            </a:pPr>
            <a:r>
              <a:t>Boundary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234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3568C"/>
                </a:solidFill>
              </a:defRPr>
            </a:pPr>
            <a:r>
              <a:t>Need =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7D4B"/>
                </a:solidFill>
              </a:defRPr>
            </a:pPr>
            <a:r>
              <a:t>Therefore:  Need ≤ Work  → 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2743200" cy="132588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568C"/>
                </a:solidFill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23774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Need = [2, 2, 1]</a:t>
            </a:r>
            <a:br/>
            <a:r>
              <a:t>Work = [2, 2, 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240280"/>
            <a:ext cx="2743200" cy="1325880"/>
          </a:xfrm>
          <a:prstGeom prst="roundRect">
            <a:avLst/>
          </a:prstGeom>
          <a:solidFill>
            <a:srgbClr val="EBF2F9"/>
          </a:solidFill>
          <a:ln>
            <a:solidFill>
              <a:srgbClr val="2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404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4B"/>
                </a:solidFill>
              </a:defRPr>
            </a:pPr>
            <a:r>
              <a:t>EXECUTE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834640"/>
            <a:ext cx="23774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Process is allowed to execute.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240280"/>
            <a:ext cx="2743200" cy="132588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404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568C"/>
                </a:solidFill>
              </a:defRPr>
            </a:pPr>
            <a:r>
              <a:t>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834640"/>
            <a:ext cx="23774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Process completes and releases resources.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832"/>
                </a:solidFill>
              </a:defRPr>
            </a:pPr>
            <a:r>
              <a:t>Process executes  →  completes  →  resources released  →  Work increases  →  remaining processes may 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035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3568C"/>
                </a:solidFill>
              </a:defRPr>
            </a:pPr>
            <a:r>
              <a:t>The comparison is inclusive:  ≤  , not  &lt;  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</a:defRPr>
            </a:pPr>
            <a:r>
              <a:t>Banker's Algorithm • OSSP PBL Review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</a:defRPr>
            </a:pPr>
            <a:r>
              <a:t>Testing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6973"/>
                </a:solidFill>
              </a:defRPr>
            </a:pPr>
            <a: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7899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577840"/>
                <a:gridCol w="2926080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0F20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0F20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F203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Safe State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A complete safe sequence exists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SAFE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Unsafe State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No process can satisfy Need ≤ Work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UNSAFE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Exact Fit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Need equals Work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832"/>
                          </a:solidFill>
                        </a:defRPr>
                      </a:pPr>
                      <a:r>
                        <a:t>Process completes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037"/>
                </a:solidFill>
              </a:defRPr>
            </a:pPr>
            <a:r>
              <a:t>Verified Functionality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160520"/>
            <a:ext cx="7132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832"/>
                </a:solidFill>
              </a:defRPr>
            </a:pPr>
            <a:r>
              <a:t>• Need matrix calculation</a:t>
            </a:r>
          </a:p>
          <a:p>
            <a:pPr>
              <a:spcAft>
                <a:spcPts val="1000"/>
              </a:spcAft>
              <a:defRPr sz="1500">
                <a:solidFill>
                  <a:srgbClr val="1E2832"/>
                </a:solidFill>
              </a:defRPr>
            </a:pPr>
            <a:r>
              <a:t>• Work vector update</a:t>
            </a:r>
          </a:p>
          <a:p>
            <a:pPr>
              <a:spcAft>
                <a:spcPts val="1000"/>
              </a:spcAft>
              <a:defRPr sz="1500">
                <a:solidFill>
                  <a:srgbClr val="1E2832"/>
                </a:solidFill>
              </a:defRPr>
            </a:pPr>
            <a:r>
              <a:t>• Finish status tracking</a:t>
            </a:r>
          </a:p>
          <a:p>
            <a:pPr>
              <a:spcAft>
                <a:spcPts val="1000"/>
              </a:spcAft>
              <a:defRPr sz="1500">
                <a:solidFill>
                  <a:srgbClr val="1E2832"/>
                </a:solidFill>
              </a:defRPr>
            </a:pPr>
            <a:r>
              <a:t>• Safe sequence generation</a:t>
            </a:r>
          </a:p>
          <a:p>
            <a:pPr>
              <a:spcAft>
                <a:spcPts val="1000"/>
              </a:spcAft>
              <a:defRPr sz="1500">
                <a:solidFill>
                  <a:srgbClr val="1E2832"/>
                </a:solidFill>
              </a:defRPr>
            </a:pPr>
            <a:r>
              <a:t>• Unsafe-state detection</a:t>
            </a:r>
          </a:p>
          <a:p>
            <a:pPr>
              <a:spcAft>
                <a:spcPts val="1000"/>
              </a:spcAft>
              <a:defRPr sz="1500">
                <a:solidFill>
                  <a:srgbClr val="1E2832"/>
                </a:solidFill>
              </a:defRPr>
            </a:pPr>
            <a:r>
              <a:t>• Exact-fit ≤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893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7D4B"/>
                </a:solidFill>
              </a:defRPr>
            </a:pPr>
            <a:r>
              <a:t>Test Result: Algorithm behavior matches the expected safety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</a:defRPr>
            </a:pPr>
            <a:r>
              <a:t>Banker's Algorithm • OSSP PBL Review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2037"/>
                </a:solidFill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914400" cy="54864"/>
          </a:xfrm>
          <a:prstGeom prst="rect">
            <a:avLst/>
          </a:prstGeom>
          <a:solidFill>
            <a:srgbClr val="23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6973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4480560"/>
          </a:xfrm>
          <a:prstGeom prst="roundRect">
            <a:avLst/>
          </a:prstGeom>
          <a:solidFill>
            <a:srgbClr val="EBF2F9"/>
          </a:solidFill>
          <a:ln>
            <a:solidFill>
              <a:srgbClr val="2D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7D4B"/>
                </a:solidFill>
              </a:defRPr>
            </a:pPr>
            <a: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00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• Banker’s Algorithm safety logic</a:t>
            </a:r>
            <a:br/>
            <a:r>
              <a:t>• Need calculation</a:t>
            </a:r>
            <a:br/>
            <a:r>
              <a:t>• Work and Finish tracking</a:t>
            </a:r>
            <a:br/>
            <a:r>
              <a:t>• Safe-state checking</a:t>
            </a:r>
            <a:br/>
            <a:r>
              <a:t>• Safe sequence generation</a:t>
            </a:r>
            <a:br/>
            <a:r>
              <a:t>• Safe, Unsafe and Exact-Fit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166360" cy="4480560"/>
          </a:xfrm>
          <a:prstGeom prst="roundRect">
            <a:avLst/>
          </a:prstGeom>
          <a:solidFill>
            <a:srgbClr val="EBF2F9"/>
          </a:solidFill>
          <a:ln>
            <a:solidFill>
              <a:srgbClr val="23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90472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568C"/>
                </a:solidFill>
              </a:defRPr>
            </a:pPr>
            <a: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800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832"/>
                </a:solidFill>
              </a:defRPr>
            </a:pPr>
            <a:r>
              <a:t>• Runtime user input</a:t>
            </a:r>
            <a:br/>
            <a:r>
              <a:t>• Live resource-request handling</a:t>
            </a:r>
            <a:br/>
            <a:r>
              <a:t>• Check whether a new request keeps the system safe</a:t>
            </a:r>
            <a:br/>
            <a:r>
              <a:t>• Reject unsafe requests</a:t>
            </a:r>
            <a:br/>
            <a:r>
              <a:t>• Input validation</a:t>
            </a:r>
            <a:br/>
            <a:r>
              <a:t>• Larger test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9893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37"/>
                </a:solidFill>
              </a:defRPr>
            </a:pPr>
            <a:r>
              <a:t>The project implements a C-based Banker’s Algorithm Deadlock Checker to verify safe resource allocation.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973"/>
                </a:solidFill>
              </a:defRPr>
            </a:pPr>
            <a:r>
              <a:t>Banker's Algorithm • OSSP PBL Review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