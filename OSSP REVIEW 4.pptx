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C25EEA-4512-4C4F-B781-B77ADA3616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24D0A4-3CFB-40BD-B0E9-055E50F8D0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20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" name="TextBox 2"/>
          <p:cNvSpPr/>
          <p:nvPr/>
        </p:nvSpPr>
        <p:spPr>
          <a:xfrm>
            <a:off x="731520" y="914400"/>
            <a:ext cx="10698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b4cde6"/>
                </a:solidFill>
                <a:uFillTx/>
                <a:latin typeface="Calibri"/>
              </a:rPr>
              <a:t>OPERATING SYSTEMS &amp; SYSTEM PROGRAMMING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TextBox 3"/>
          <p:cNvSpPr/>
          <p:nvPr/>
        </p:nvSpPr>
        <p:spPr>
          <a:xfrm>
            <a:off x="731520" y="1828800"/>
            <a:ext cx="106981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800" strike="noStrike" u="none">
                <a:solidFill>
                  <a:srgbClr val="ffffff"/>
                </a:solidFill>
                <a:uFillTx/>
                <a:latin typeface="Calibri"/>
              </a:rPr>
              <a:t>Banker's Algorithm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TextBox 4"/>
          <p:cNvSpPr/>
          <p:nvPr/>
        </p:nvSpPr>
        <p:spPr>
          <a:xfrm>
            <a:off x="731520" y="2606040"/>
            <a:ext cx="10698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82beeb"/>
                </a:solidFill>
                <a:uFillTx/>
                <a:latin typeface="Calibri"/>
              </a:rPr>
              <a:t>Deadlock Checker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TextBox 5"/>
          <p:cNvSpPr/>
          <p:nvPr/>
        </p:nvSpPr>
        <p:spPr>
          <a:xfrm>
            <a:off x="731520" y="3657600"/>
            <a:ext cx="1069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Calibri"/>
              </a:rPr>
              <a:t>PBL REVIEW 4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6"/>
          <p:cNvSpPr/>
          <p:nvPr/>
        </p:nvSpPr>
        <p:spPr>
          <a:xfrm>
            <a:off x="2011680" y="4572000"/>
            <a:ext cx="8137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dce6f0"/>
                </a:solidFill>
                <a:uFillTx/>
                <a:latin typeface="Calibri"/>
              </a:rPr>
              <a:t>Team Members  •  Roll Numbers  •  Section  •  Faculty/Guide</a:t>
            </a:r>
            <a:br>
              <a:rPr sz="1400"/>
            </a:br>
            <a:r>
              <a:rPr b="0" lang="en-US" sz="1400" strike="noStrike" u="none">
                <a:solidFill>
                  <a:srgbClr val="dce6f0"/>
                </a:solidFill>
                <a:uFillTx/>
                <a:latin typeface="Calibri"/>
              </a:rPr>
              <a:t>Academic Year 2026–27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4602600" y="320040"/>
            <a:ext cx="27730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Project Objective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02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31520" y="1417320"/>
            <a:ext cx="3382920" cy="182844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" name="TextBox 6"/>
          <p:cNvSpPr/>
          <p:nvPr/>
        </p:nvSpPr>
        <p:spPr>
          <a:xfrm>
            <a:off x="914400" y="158184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IMPLEMENT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Box 7"/>
          <p:cNvSpPr/>
          <p:nvPr/>
        </p:nvSpPr>
        <p:spPr>
          <a:xfrm>
            <a:off x="914400" y="201168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Implement Banker’s Algorithm using C.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4389120" y="1417320"/>
            <a:ext cx="3382920" cy="182844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d7d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9" name="TextBox 9"/>
          <p:cNvSpPr/>
          <p:nvPr/>
        </p:nvSpPr>
        <p:spPr>
          <a:xfrm>
            <a:off x="4572000" y="158184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CHECK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Box 10"/>
          <p:cNvSpPr/>
          <p:nvPr/>
        </p:nvSpPr>
        <p:spPr>
          <a:xfrm>
            <a:off x="4572000" y="201168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Determine whether the system is SAFE or UNSAFE.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Rounded Rectangle 11"/>
          <p:cNvSpPr/>
          <p:nvPr/>
        </p:nvSpPr>
        <p:spPr>
          <a:xfrm>
            <a:off x="8046720" y="1417320"/>
            <a:ext cx="3382920" cy="182844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2" name="TextBox 12"/>
          <p:cNvSpPr/>
          <p:nvPr/>
        </p:nvSpPr>
        <p:spPr>
          <a:xfrm>
            <a:off x="8229600" y="1581840"/>
            <a:ext cx="301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SEQUENCE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Box 13"/>
          <p:cNvSpPr/>
          <p:nvPr/>
        </p:nvSpPr>
        <p:spPr>
          <a:xfrm>
            <a:off x="8229600" y="2011680"/>
            <a:ext cx="3017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Generate a Safe Sequence when possible.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Box 14"/>
          <p:cNvSpPr/>
          <p:nvPr/>
        </p:nvSpPr>
        <p:spPr>
          <a:xfrm>
            <a:off x="914400" y="3794760"/>
            <a:ext cx="1828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f2037"/>
                </a:solidFill>
                <a:uFillTx/>
                <a:latin typeface="Calibri"/>
              </a:rPr>
              <a:t>Core formula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Box 15"/>
          <p:cNvSpPr/>
          <p:nvPr/>
        </p:nvSpPr>
        <p:spPr>
          <a:xfrm>
            <a:off x="2743200" y="3703320"/>
            <a:ext cx="475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3568c"/>
                </a:solidFill>
                <a:uFillTx/>
                <a:latin typeface="Calibri"/>
              </a:rPr>
              <a:t>Need = Max − Allocation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TextBox 16"/>
          <p:cNvSpPr/>
          <p:nvPr/>
        </p:nvSpPr>
        <p:spPr>
          <a:xfrm>
            <a:off x="1097280" y="4800600"/>
            <a:ext cx="9875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e2832"/>
                </a:solidFill>
                <a:uFillTx/>
                <a:latin typeface="Calibri"/>
              </a:rPr>
              <a:t>Goal: prevent resource allocation from entering an unsafe state.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Box 17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" name="TextBox 2"/>
          <p:cNvSpPr/>
          <p:nvPr/>
        </p:nvSpPr>
        <p:spPr>
          <a:xfrm>
            <a:off x="3363840" y="320040"/>
            <a:ext cx="5250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Implementation &amp; System Design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Rounded Rectangle 5"/>
          <p:cNvSpPr/>
          <p:nvPr/>
        </p:nvSpPr>
        <p:spPr>
          <a:xfrm>
            <a:off x="640080" y="132588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3" name="TextBox 6"/>
          <p:cNvSpPr/>
          <p:nvPr/>
        </p:nvSpPr>
        <p:spPr>
          <a:xfrm>
            <a:off x="822960" y="1490400"/>
            <a:ext cx="214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ALLOCATION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Box 7"/>
          <p:cNvSpPr/>
          <p:nvPr/>
        </p:nvSpPr>
        <p:spPr>
          <a:xfrm>
            <a:off x="822960" y="1920240"/>
            <a:ext cx="2148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Resources currently held by each process.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Rounded Rectangle 8"/>
          <p:cNvSpPr/>
          <p:nvPr/>
        </p:nvSpPr>
        <p:spPr>
          <a:xfrm>
            <a:off x="3337560" y="132588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" name="TextBox 9"/>
          <p:cNvSpPr/>
          <p:nvPr/>
        </p:nvSpPr>
        <p:spPr>
          <a:xfrm>
            <a:off x="3520440" y="1490400"/>
            <a:ext cx="214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MAX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Box 10"/>
          <p:cNvSpPr/>
          <p:nvPr/>
        </p:nvSpPr>
        <p:spPr>
          <a:xfrm>
            <a:off x="3520440" y="1920240"/>
            <a:ext cx="2148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Maximum resources required by each process.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Rounded Rectangle 11"/>
          <p:cNvSpPr/>
          <p:nvPr/>
        </p:nvSpPr>
        <p:spPr>
          <a:xfrm>
            <a:off x="6035040" y="132588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" name="TextBox 12"/>
          <p:cNvSpPr/>
          <p:nvPr/>
        </p:nvSpPr>
        <p:spPr>
          <a:xfrm>
            <a:off x="6217920" y="1490400"/>
            <a:ext cx="214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AVAILABLE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13"/>
          <p:cNvSpPr/>
          <p:nvPr/>
        </p:nvSpPr>
        <p:spPr>
          <a:xfrm>
            <a:off x="6217920" y="1920240"/>
            <a:ext cx="2148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8120" rIns="781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Resources currently free.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Rounded Rectangle 14"/>
          <p:cNvSpPr/>
          <p:nvPr/>
        </p:nvSpPr>
        <p:spPr>
          <a:xfrm>
            <a:off x="8732520" y="132588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d7d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2" name="TextBox 15"/>
          <p:cNvSpPr/>
          <p:nvPr/>
        </p:nvSpPr>
        <p:spPr>
          <a:xfrm>
            <a:off x="8915400" y="1490400"/>
            <a:ext cx="214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NEED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Box 16"/>
          <p:cNvSpPr/>
          <p:nvPr/>
        </p:nvSpPr>
        <p:spPr>
          <a:xfrm>
            <a:off x="8915400" y="1920240"/>
            <a:ext cx="2148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Remaining resources required.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Max − Allocation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17"/>
          <p:cNvSpPr/>
          <p:nvPr/>
        </p:nvSpPr>
        <p:spPr>
          <a:xfrm>
            <a:off x="914400" y="379476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f2037"/>
                </a:solidFill>
                <a:uFillTx/>
                <a:latin typeface="Calibri"/>
              </a:rPr>
              <a:t>Input Matrices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Right Arrow 18"/>
          <p:cNvSpPr/>
          <p:nvPr/>
        </p:nvSpPr>
        <p:spPr>
          <a:xfrm>
            <a:off x="2880360" y="3794760"/>
            <a:ext cx="6397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" name="TextBox 19"/>
          <p:cNvSpPr/>
          <p:nvPr/>
        </p:nvSpPr>
        <p:spPr>
          <a:xfrm>
            <a:off x="3657600" y="379476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f2037"/>
                </a:solidFill>
                <a:uFillTx/>
                <a:latin typeface="Calibri"/>
              </a:rPr>
              <a:t>Need Calculation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Right Arrow 20"/>
          <p:cNvSpPr/>
          <p:nvPr/>
        </p:nvSpPr>
        <p:spPr>
          <a:xfrm>
            <a:off x="5623560" y="3794760"/>
            <a:ext cx="6397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8" name="TextBox 21"/>
          <p:cNvSpPr/>
          <p:nvPr/>
        </p:nvSpPr>
        <p:spPr>
          <a:xfrm>
            <a:off x="6400800" y="379476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f2037"/>
                </a:solidFill>
                <a:uFillTx/>
                <a:latin typeface="Calibri"/>
              </a:rPr>
              <a:t>Safety Check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Right Arrow 22"/>
          <p:cNvSpPr/>
          <p:nvPr/>
        </p:nvSpPr>
        <p:spPr>
          <a:xfrm>
            <a:off x="8366760" y="3794760"/>
            <a:ext cx="6397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0" name="TextBox 23"/>
          <p:cNvSpPr/>
          <p:nvPr/>
        </p:nvSpPr>
        <p:spPr>
          <a:xfrm>
            <a:off x="9144000" y="3794760"/>
            <a:ext cx="2011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f2037"/>
                </a:solidFill>
                <a:uFillTx/>
                <a:latin typeface="Calibri"/>
              </a:rPr>
              <a:t>SAFE / UNSAFE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Box 24"/>
          <p:cNvSpPr/>
          <p:nvPr/>
        </p:nvSpPr>
        <p:spPr>
          <a:xfrm>
            <a:off x="914400" y="5074920"/>
            <a:ext cx="1033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2832"/>
                </a:solidFill>
                <a:uFillTx/>
                <a:latin typeface="Calibri"/>
              </a:rPr>
              <a:t>Language: C     Compiler: GCC     Platform: Linux / Ubuntu / WSL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Box 25"/>
          <p:cNvSpPr/>
          <p:nvPr/>
        </p:nvSpPr>
        <p:spPr>
          <a:xfrm>
            <a:off x="914400" y="5623560"/>
            <a:ext cx="10332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5f6973"/>
                </a:solidFill>
                <a:uFillTx/>
                <a:latin typeface="Calibri"/>
              </a:rPr>
              <a:t>Libraries: &lt;stdio.h&gt;   •   &lt;stdbool.h&gt;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Box 26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" name="TextBox 2"/>
          <p:cNvSpPr/>
          <p:nvPr/>
        </p:nvSpPr>
        <p:spPr>
          <a:xfrm>
            <a:off x="2362320" y="320040"/>
            <a:ext cx="7253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Banker's Algorithm – Implementation Workflow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Rounded Rectangle 5"/>
          <p:cNvSpPr/>
          <p:nvPr/>
        </p:nvSpPr>
        <p:spPr>
          <a:xfrm>
            <a:off x="3657600" y="123444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9" name="TextBox 6"/>
          <p:cNvSpPr/>
          <p:nvPr/>
        </p:nvSpPr>
        <p:spPr>
          <a:xfrm>
            <a:off x="3794760" y="130752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Start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Down Arrow 7"/>
          <p:cNvSpPr/>
          <p:nvPr/>
        </p:nvSpPr>
        <p:spPr>
          <a:xfrm>
            <a:off x="5806440" y="173736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Rounded Rectangle 8"/>
          <p:cNvSpPr/>
          <p:nvPr/>
        </p:nvSpPr>
        <p:spPr>
          <a:xfrm>
            <a:off x="3657600" y="187452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TextBox 9"/>
          <p:cNvSpPr/>
          <p:nvPr/>
        </p:nvSpPr>
        <p:spPr>
          <a:xfrm>
            <a:off x="3794760" y="1947600"/>
            <a:ext cx="4480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Read Allocation,</a:t>
            </a:r>
            <a:br>
              <a:rPr sz="1400"/>
            </a:b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Max &amp; Available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Down Arrow 10"/>
          <p:cNvSpPr/>
          <p:nvPr/>
        </p:nvSpPr>
        <p:spPr>
          <a:xfrm>
            <a:off x="5806440" y="237744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4" name="Rounded Rectangle 11"/>
          <p:cNvSpPr/>
          <p:nvPr/>
        </p:nvSpPr>
        <p:spPr>
          <a:xfrm>
            <a:off x="3657600" y="251460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deeefa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3794760" y="258768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Need = Max − Allocation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Down Arrow 13"/>
          <p:cNvSpPr/>
          <p:nvPr/>
        </p:nvSpPr>
        <p:spPr>
          <a:xfrm>
            <a:off x="5806440" y="301752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Rounded Rectangle 14"/>
          <p:cNvSpPr/>
          <p:nvPr/>
        </p:nvSpPr>
        <p:spPr>
          <a:xfrm>
            <a:off x="3657600" y="315468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8" name="TextBox 15"/>
          <p:cNvSpPr/>
          <p:nvPr/>
        </p:nvSpPr>
        <p:spPr>
          <a:xfrm>
            <a:off x="3794760" y="322776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Work = Available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Down Arrow 16"/>
          <p:cNvSpPr/>
          <p:nvPr/>
        </p:nvSpPr>
        <p:spPr>
          <a:xfrm>
            <a:off x="5806440" y="365760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Rounded Rectangle 17"/>
          <p:cNvSpPr/>
          <p:nvPr/>
        </p:nvSpPr>
        <p:spPr>
          <a:xfrm>
            <a:off x="3657600" y="379476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deeefa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3794760" y="3867840"/>
            <a:ext cx="4480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Find unfinished process</a:t>
            </a:r>
            <a:br>
              <a:rPr sz="1400"/>
            </a:b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with Need ≤ Work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Down Arrow 19"/>
          <p:cNvSpPr/>
          <p:nvPr/>
        </p:nvSpPr>
        <p:spPr>
          <a:xfrm>
            <a:off x="5806440" y="429768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Rounded Rectangle 20"/>
          <p:cNvSpPr/>
          <p:nvPr/>
        </p:nvSpPr>
        <p:spPr>
          <a:xfrm>
            <a:off x="3657600" y="443484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4" name="TextBox 21"/>
          <p:cNvSpPr/>
          <p:nvPr/>
        </p:nvSpPr>
        <p:spPr>
          <a:xfrm>
            <a:off x="3794760" y="4507920"/>
            <a:ext cx="4480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Work += Allocation</a:t>
            </a:r>
            <a:br>
              <a:rPr sz="1400"/>
            </a:b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Mark Finish = true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Down Arrow 22"/>
          <p:cNvSpPr/>
          <p:nvPr/>
        </p:nvSpPr>
        <p:spPr>
          <a:xfrm>
            <a:off x="5806440" y="4937760"/>
            <a:ext cx="456840" cy="319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6" name="Rounded Rectangle 23"/>
          <p:cNvSpPr/>
          <p:nvPr/>
        </p:nvSpPr>
        <p:spPr>
          <a:xfrm>
            <a:off x="3657600" y="5074920"/>
            <a:ext cx="4754520" cy="5025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7" name="TextBox 24"/>
          <p:cNvSpPr/>
          <p:nvPr/>
        </p:nvSpPr>
        <p:spPr>
          <a:xfrm>
            <a:off x="3794760" y="5148000"/>
            <a:ext cx="4480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All processes finished?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5"/>
          <p:cNvSpPr/>
          <p:nvPr/>
        </p:nvSpPr>
        <p:spPr>
          <a:xfrm>
            <a:off x="731520" y="5897880"/>
            <a:ext cx="493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YES → SAFE + Safe Sequence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26"/>
          <p:cNvSpPr/>
          <p:nvPr/>
        </p:nvSpPr>
        <p:spPr>
          <a:xfrm>
            <a:off x="6492240" y="5897880"/>
            <a:ext cx="493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aa3737"/>
                </a:solidFill>
                <a:uFillTx/>
                <a:latin typeface="Calibri"/>
              </a:rPr>
              <a:t>NO candidate → UNSAFE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27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3735360" y="320040"/>
            <a:ext cx="45075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Program Execution – Output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914400" y="1234440"/>
            <a:ext cx="10332360" cy="4891680"/>
          </a:xfrm>
          <a:prstGeom prst="roundRect">
            <a:avLst>
              <a:gd name="adj" fmla="val 16667"/>
            </a:avLst>
          </a:prstGeom>
          <a:solidFill>
            <a:srgbClr val="181b1f"/>
          </a:solidFill>
          <a:ln>
            <a:solidFill>
              <a:srgbClr val="4650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280160" y="1508760"/>
            <a:ext cx="9600840" cy="64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Banker's Algorithm - Deadlock Checker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Number of Processes: 3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Number of Resources: 3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Available Resources: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3 3 2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Need Matrix: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P1: 2 2 2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P2: 5 3 3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P3: 1 0 0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Checking Safe State...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P1 can execute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Work updated: 4 3 2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P3 can execute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Work updated: 6 4 3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P2 can execute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Work updated: 8 5 4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System is in a SAFE State</a:t>
            </a: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Safe Sequence:</a:t>
            </a:r>
            <a:br>
              <a:rPr sz="1500"/>
            </a:br>
            <a:r>
              <a:rPr b="0" lang="en-US" sz="1500" strike="noStrike" u="none">
                <a:solidFill>
                  <a:srgbClr val="dcebdc"/>
                </a:solidFill>
                <a:uFillTx/>
                <a:latin typeface="Consolas"/>
              </a:rPr>
              <a:t>P1 -&gt; P3 -&gt; P2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001760" y="320040"/>
            <a:ext cx="39744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Test Case 1 – Safe State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731520" y="1234440"/>
            <a:ext cx="3108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3568c"/>
                </a:solidFill>
                <a:uFillTx/>
                <a:latin typeface="Calibri"/>
              </a:rPr>
              <a:t>Available = [3, 3, 2]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3" name="Table 6"/>
          <p:cNvGraphicFramePr/>
          <p:nvPr/>
        </p:nvGraphicFramePr>
        <p:xfrm>
          <a:off x="731520" y="1828800"/>
          <a:ext cx="6400440" cy="219456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188720"/>
                <a:gridCol w="1737360"/>
                <a:gridCol w="164592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Process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Allocation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Max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Need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P1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1 0 0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3 2 2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2 2 2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P2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2 1 1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7 4 4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5 3 3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P3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2 1 1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3 1 1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1 0 0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94" name="TextBox 7"/>
          <p:cNvSpPr/>
          <p:nvPr/>
        </p:nvSpPr>
        <p:spPr>
          <a:xfrm>
            <a:off x="7543800" y="182880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f2037"/>
                </a:solidFill>
                <a:uFillTx/>
                <a:latin typeface="Calibri"/>
              </a:rPr>
              <a:t>Execution Trace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7543800" y="2240280"/>
            <a:ext cx="3657240" cy="13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Work = [3,3,2]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P1 finishes → Work = [4,3,2]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P3 finishes → Work = [6,4,3]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P2 finishes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2468880" y="4709160"/>
            <a:ext cx="2742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SAFE SEQUENCE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2103120" y="51663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2d7d4b"/>
                </a:solidFill>
                <a:uFillTx/>
                <a:latin typeface="Calibri"/>
              </a:rPr>
              <a:t>P1  →  P3  →  P2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7132320" y="4983480"/>
            <a:ext cx="384012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e2832"/>
                </a:solidFill>
                <a:uFillTx/>
                <a:latin typeface="Calibri"/>
              </a:rPr>
              <a:t>All processes can complete successfully.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3811320" y="320040"/>
            <a:ext cx="43552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Test Case 2 – Unsafe State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07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1920240" y="1325880"/>
            <a:ext cx="8137800" cy="6213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2148840" y="1454040"/>
            <a:ext cx="7680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2832"/>
                </a:solidFill>
                <a:uFillTx/>
                <a:latin typeface="Calibri"/>
              </a:rPr>
              <a:t>Resource Request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Down Arrow 7"/>
          <p:cNvSpPr/>
          <p:nvPr/>
        </p:nvSpPr>
        <p:spPr>
          <a:xfrm>
            <a:off x="5715000" y="1947600"/>
            <a:ext cx="4568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f69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7" name="Rounded Rectangle 8"/>
          <p:cNvSpPr/>
          <p:nvPr/>
        </p:nvSpPr>
        <p:spPr>
          <a:xfrm>
            <a:off x="1920240" y="2286000"/>
            <a:ext cx="8137800" cy="6213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2148840" y="2414160"/>
            <a:ext cx="7680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2832"/>
                </a:solidFill>
                <a:uFillTx/>
                <a:latin typeface="Calibri"/>
              </a:rPr>
              <a:t>Request exceeds available limits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Down Arrow 10"/>
          <p:cNvSpPr/>
          <p:nvPr/>
        </p:nvSpPr>
        <p:spPr>
          <a:xfrm>
            <a:off x="5715000" y="2907720"/>
            <a:ext cx="4568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f69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0" name="Rounded Rectangle 11"/>
          <p:cNvSpPr/>
          <p:nvPr/>
        </p:nvSpPr>
        <p:spPr>
          <a:xfrm>
            <a:off x="1920240" y="3246120"/>
            <a:ext cx="8137800" cy="6213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aa37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2148840" y="3374280"/>
            <a:ext cx="7680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2832"/>
                </a:solidFill>
                <a:uFillTx/>
                <a:latin typeface="Calibri"/>
              </a:rPr>
              <a:t>No remaining process satisfies Need ≤ Work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Down Arrow 13"/>
          <p:cNvSpPr/>
          <p:nvPr/>
        </p:nvSpPr>
        <p:spPr>
          <a:xfrm>
            <a:off x="5715000" y="3867840"/>
            <a:ext cx="456840" cy="273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f69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3" name="Rounded Rectangle 14"/>
          <p:cNvSpPr/>
          <p:nvPr/>
        </p:nvSpPr>
        <p:spPr>
          <a:xfrm>
            <a:off x="1920240" y="4206240"/>
            <a:ext cx="8137800" cy="62136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4" name="TextBox 15"/>
          <p:cNvSpPr/>
          <p:nvPr/>
        </p:nvSpPr>
        <p:spPr>
          <a:xfrm>
            <a:off x="2148840" y="4334400"/>
            <a:ext cx="7680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e2832"/>
                </a:solidFill>
                <a:uFillTx/>
                <a:latin typeface="Calibri"/>
              </a:rPr>
              <a:t>Safe Sequence cannot be completed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2743200" y="5440680"/>
            <a:ext cx="667476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aa3737"/>
                </a:solidFill>
                <a:uFillTx/>
                <a:latin typeface="Calibri"/>
              </a:rPr>
              <a:t>System is in an UNSAFE State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3363840" y="320040"/>
            <a:ext cx="5250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Test Case 3 – Exact Fit Condition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08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822960" y="1325880"/>
            <a:ext cx="2285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f2037"/>
                </a:solidFill>
                <a:uFillTx/>
                <a:latin typeface="Calibri"/>
              </a:rPr>
              <a:t>Boundary condition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2926080" y="1234440"/>
            <a:ext cx="27428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500" strike="noStrike" u="none">
                <a:solidFill>
                  <a:srgbClr val="23568c"/>
                </a:solidFill>
                <a:uFillTx/>
                <a:latin typeface="Calibri"/>
              </a:rPr>
              <a:t>Need = Work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5943600" y="1325880"/>
            <a:ext cx="475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2d7d4b"/>
                </a:solidFill>
                <a:uFillTx/>
                <a:latin typeface="Calibri"/>
              </a:rPr>
              <a:t>Therefore:  Need ≤ Work  → TRUE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914400" y="2240280"/>
            <a:ext cx="2742840" cy="132552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1097280" y="2404800"/>
            <a:ext cx="237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EXAMPLE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1097280" y="283464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Need = [2, 2, 1]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Work = [2, 2, 1]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Rounded Rectangle 11"/>
          <p:cNvSpPr/>
          <p:nvPr/>
        </p:nvSpPr>
        <p:spPr>
          <a:xfrm>
            <a:off x="4709160" y="2240280"/>
            <a:ext cx="2742840" cy="132552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d7d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4892040" y="2404800"/>
            <a:ext cx="237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EXECUTE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4892040" y="283464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Process is allowed to execute.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Rounded Rectangle 14"/>
          <p:cNvSpPr/>
          <p:nvPr/>
        </p:nvSpPr>
        <p:spPr>
          <a:xfrm>
            <a:off x="8503920" y="2240280"/>
            <a:ext cx="2742840" cy="132552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8686800" y="2404800"/>
            <a:ext cx="237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RELEASE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8686800" y="2834640"/>
            <a:ext cx="237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Process completes and releases resources.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914400" y="4160520"/>
            <a:ext cx="103323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e2832"/>
                </a:solidFill>
                <a:uFillTx/>
                <a:latin typeface="Calibri"/>
              </a:rPr>
              <a:t>Process executes  →  completes  →  resources released  →  Work increases  →  remaining processes may execute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Box 18"/>
          <p:cNvSpPr/>
          <p:nvPr/>
        </p:nvSpPr>
        <p:spPr>
          <a:xfrm>
            <a:off x="1828800" y="5303520"/>
            <a:ext cx="8503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23568c"/>
                </a:solidFill>
                <a:uFillTx/>
                <a:latin typeface="Calibri"/>
              </a:rPr>
              <a:t>The comparison is inclusive:  ≤  , not  &lt;  .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19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4573800" y="320040"/>
            <a:ext cx="283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Testing &amp; Results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09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40" name="Table 5"/>
          <p:cNvGraphicFramePr/>
          <p:nvPr/>
        </p:nvGraphicFramePr>
        <p:xfrm>
          <a:off x="685800" y="1417320"/>
          <a:ext cx="10789560" cy="242280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2286000"/>
                <a:gridCol w="5577840"/>
                <a:gridCol w="2926080"/>
              </a:tblGrid>
              <a:tr h="6055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Test Case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Condition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</a:rPr>
                        <a:t>Expected Result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2037"/>
                    </a:solidFill>
                  </a:tcPr>
                </a:tc>
              </a:tr>
              <a:tr h="6055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Safe State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A complete safe sequence exists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SAFE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  <a:tr h="6055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Unsafe State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No process can satisfy Need ≤ Work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UNSAFE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  <a:tr h="6055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Exact Fit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Need equals Work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e2832"/>
                          </a:solidFill>
                          <a:uFillTx/>
                          <a:latin typeface="Calibri"/>
                        </a:rPr>
                        <a:t>Process completes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6"/>
          <p:cNvSpPr/>
          <p:nvPr/>
        </p:nvSpPr>
        <p:spPr>
          <a:xfrm>
            <a:off x="822960" y="429768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f2037"/>
                </a:solidFill>
                <a:uFillTx/>
                <a:latin typeface="Calibri"/>
              </a:rPr>
              <a:t>Verified Functionality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3657600" y="4160520"/>
            <a:ext cx="7131960" cy="20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Need matrix calculation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Work vector update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Finish status tracking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Safe sequence generation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Unsafe-state detection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500" strike="noStrike" u="none">
                <a:solidFill>
                  <a:srgbClr val="1e2832"/>
                </a:solidFill>
                <a:uFillTx/>
                <a:latin typeface="Calibri"/>
              </a:rPr>
              <a:t>Exact-fit ≤ condition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1097280" y="5989320"/>
            <a:ext cx="9875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d7d4b"/>
                </a:solidFill>
                <a:uFillTx/>
                <a:latin typeface="Calibri"/>
              </a:rPr>
              <a:t>Test Result: Algorithm behavior matches the expected safety logic.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3900600" y="320040"/>
            <a:ext cx="4176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0f2037"/>
                </a:solidFill>
                <a:uFillTx/>
                <a:latin typeface="Calibri"/>
              </a:rPr>
              <a:t>Conclusion &amp; Future Work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594360" y="987480"/>
            <a:ext cx="914040" cy="54360"/>
          </a:xfrm>
          <a:prstGeom prst="rect">
            <a:avLst/>
          </a:prstGeom>
          <a:solidFill>
            <a:srgbClr val="2356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11208600" y="365760"/>
            <a:ext cx="350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5f6973"/>
                </a:solidFill>
                <a:uFillTx/>
                <a:latin typeface="Calibri"/>
              </a:rPr>
              <a:t>10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Rounded Rectangle 5"/>
          <p:cNvSpPr/>
          <p:nvPr/>
        </p:nvSpPr>
        <p:spPr>
          <a:xfrm>
            <a:off x="731520" y="1325880"/>
            <a:ext cx="5166000" cy="448020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d7d4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914400" y="1490400"/>
            <a:ext cx="4800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d7d4b"/>
                </a:solidFill>
                <a:uFillTx/>
                <a:latin typeface="Calibri"/>
              </a:rPr>
              <a:t>COMPLETED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914400" y="1920240"/>
            <a:ext cx="48002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Banker’s Algorithm safety logic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Need calculation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Work and Finish tracking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Safe-state checking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Safe sequence generation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Safe, Unsafe and Exact-Fit testing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Rounded Rectangle 8"/>
          <p:cNvSpPr/>
          <p:nvPr/>
        </p:nvSpPr>
        <p:spPr>
          <a:xfrm>
            <a:off x="6309360" y="1325880"/>
            <a:ext cx="5166000" cy="4480200"/>
          </a:xfrm>
          <a:prstGeom prst="roundRect">
            <a:avLst>
              <a:gd name="adj" fmla="val 16667"/>
            </a:avLst>
          </a:prstGeom>
          <a:solidFill>
            <a:srgbClr val="ebf2f9"/>
          </a:solidFill>
          <a:ln>
            <a:solidFill>
              <a:srgbClr val="2356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3" name="TextBox 9"/>
          <p:cNvSpPr/>
          <p:nvPr/>
        </p:nvSpPr>
        <p:spPr>
          <a:xfrm>
            <a:off x="6492240" y="1490400"/>
            <a:ext cx="4800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23568c"/>
                </a:solidFill>
                <a:uFillTx/>
                <a:latin typeface="Calibri"/>
              </a:rPr>
              <a:t>FUTURE WORK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492240" y="1920240"/>
            <a:ext cx="48002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</a:t>
            </a: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Runtime user input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Live resource-request handling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Check whether a new request keeps the system safe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Reject unsafe requests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Input validation</a:t>
            </a:r>
            <a:br>
              <a:rPr sz="1400"/>
            </a:br>
            <a:r>
              <a:rPr b="0" lang="en-US" sz="1400" strike="noStrike" u="none">
                <a:solidFill>
                  <a:srgbClr val="1e2832"/>
                </a:solidFill>
                <a:uFillTx/>
                <a:latin typeface="Calibri"/>
              </a:rPr>
              <a:t>• Larger test cases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1005840" y="5989320"/>
            <a:ext cx="10149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f2037"/>
                </a:solidFill>
                <a:uFillTx/>
                <a:latin typeface="Calibri"/>
              </a:rPr>
              <a:t>The project implements a C-based Banker’s Algorithm Deadlock Checker to verify safe resource allocation.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594360" y="6492240"/>
            <a:ext cx="5486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5f6973"/>
                </a:solidFill>
                <a:uFillTx/>
                <a:latin typeface="Calibri"/>
              </a:rPr>
              <a:t>Banker's Algorithm • OSSP PBL Review 2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2026-10-15T08:55:36Z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